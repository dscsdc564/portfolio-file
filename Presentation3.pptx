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9" r:id="rId3"/>
    <p:sldId id="260" r:id="rId4"/>
    <p:sldId id="261" r:id="rId5"/>
    <p:sldId id="265" r:id="rId6"/>
    <p:sldId id="267" r:id="rId7"/>
    <p:sldId id="266" r:id="rId8"/>
    <p:sldId id="262" r:id="rId9"/>
    <p:sldId id="264" r:id="rId10"/>
    <p:sldId id="263" r:id="rId11"/>
    <p:sldId id="268" r:id="rId12"/>
    <p:sldId id="269" r:id="rId13"/>
    <p:sldId id="270" r:id="rId14"/>
    <p:sldId id="271" r:id="rId15"/>
    <p:sldId id="272" r:id="rId16"/>
    <p:sldId id="273" r:id="rId17"/>
    <p:sldId id="274" r:id="rId18"/>
    <p:sldId id="275" r:id="rId19"/>
    <p:sldId id="276" r:id="rId2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94660"/>
  </p:normalViewPr>
  <p:slideViewPr>
    <p:cSldViewPr snapToGrid="0">
      <p:cViewPr varScale="1">
        <p:scale>
          <a:sx n="65" d="100"/>
          <a:sy n="65" d="100"/>
        </p:scale>
        <p:origin x="10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23654-C19C-451B-A878-643324FA6A78}" type="datetimeFigureOut">
              <a:rPr lang="en-PK" smtClean="0"/>
              <a:t>22/02/2026</a:t>
            </a:fld>
            <a:endParaRPr lang="en-PK"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7DDDAB-9A8F-42AC-820A-F1B4A1C1FF1F}" type="slidenum">
              <a:rPr lang="en-PK" smtClean="0"/>
              <a:t>‹#›</a:t>
            </a:fld>
            <a:endParaRPr lang="en-PK" dirty="0"/>
          </a:p>
        </p:txBody>
      </p:sp>
    </p:spTree>
    <p:extLst>
      <p:ext uri="{BB962C8B-B14F-4D97-AF65-F5344CB8AC3E}">
        <p14:creationId xmlns:p14="http://schemas.microsoft.com/office/powerpoint/2010/main" val="1539316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A7DDDAB-9A8F-42AC-820A-F1B4A1C1FF1F}" type="slidenum">
              <a:rPr lang="en-PK" smtClean="0"/>
              <a:t>1</a:t>
            </a:fld>
            <a:endParaRPr lang="en-PK" dirty="0"/>
          </a:p>
        </p:txBody>
      </p:sp>
    </p:spTree>
    <p:extLst>
      <p:ext uri="{BB962C8B-B14F-4D97-AF65-F5344CB8AC3E}">
        <p14:creationId xmlns:p14="http://schemas.microsoft.com/office/powerpoint/2010/main" val="3563301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AB72E-EF99-63FB-0EDF-E84259D1F5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6DED949-DC49-00AD-417D-46AA090F4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83052BC-8A83-E0E7-30F6-1FACD6A84489}"/>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5" name="Footer Placeholder 4">
            <a:extLst>
              <a:ext uri="{FF2B5EF4-FFF2-40B4-BE49-F238E27FC236}">
                <a16:creationId xmlns:a16="http://schemas.microsoft.com/office/drawing/2014/main" id="{EE970485-9C37-5683-A25F-1F35AA1A7366}"/>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2126F4AD-CD4C-E4C1-57FA-DE8FB8FDA142}"/>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2238245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BC7DE-59E4-63A2-03E9-660E02BEC55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48DCD6F-30BC-14B5-7457-663982A5B7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535B3EF-5827-7EA6-603D-9D9B46853372}"/>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5" name="Footer Placeholder 4">
            <a:extLst>
              <a:ext uri="{FF2B5EF4-FFF2-40B4-BE49-F238E27FC236}">
                <a16:creationId xmlns:a16="http://schemas.microsoft.com/office/drawing/2014/main" id="{EBBF8862-940C-C422-1B4B-2B438C82FB94}"/>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44E4C283-A60B-3BAA-D2DB-FD230FFC5A45}"/>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4292517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7478-2414-8149-6F22-3B349E1D46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90BAFEF3-CBB5-0E69-F130-8E0A4D90D1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31CA4D-E77F-3FA0-7407-051799416C82}"/>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5" name="Footer Placeholder 4">
            <a:extLst>
              <a:ext uri="{FF2B5EF4-FFF2-40B4-BE49-F238E27FC236}">
                <a16:creationId xmlns:a16="http://schemas.microsoft.com/office/drawing/2014/main" id="{3AFA943A-D7AC-1935-1DF7-98A5EC075BB1}"/>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62EEB05B-4301-0A42-E80B-3CC033748436}"/>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342164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092C-CFF1-8FC6-C621-6A7DADC1A63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25D0ED4-32E1-4E9B-0DEF-EEB5B784BA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7CC61B97-823C-02DC-C3A8-8C298D74A7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7BFC94FC-397B-B54B-1CDE-F092EBB2081B}"/>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6" name="Footer Placeholder 5">
            <a:extLst>
              <a:ext uri="{FF2B5EF4-FFF2-40B4-BE49-F238E27FC236}">
                <a16:creationId xmlns:a16="http://schemas.microsoft.com/office/drawing/2014/main" id="{0DABEB06-8A53-7A79-B660-06AAEE7AB37A}"/>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1D71B0CF-5B73-6040-0CB2-A1A641551B80}"/>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4263656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A561C-3E34-31D5-733A-2260B012B6A7}"/>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371AAAA-94C3-E8AE-0135-E6500E96F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A1A3E2-B532-8A5E-32E5-A6DF9AF43C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DC0FB321-56A0-B554-D6A6-FC2299863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0F4661-922B-019D-F4DB-06C0C255FA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96CCDC63-470B-BE0A-B337-E7C1F1B4723D}"/>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8" name="Footer Placeholder 7">
            <a:extLst>
              <a:ext uri="{FF2B5EF4-FFF2-40B4-BE49-F238E27FC236}">
                <a16:creationId xmlns:a16="http://schemas.microsoft.com/office/drawing/2014/main" id="{9D38D8A7-7588-7BD2-AADB-01232B2B028B}"/>
              </a:ext>
            </a:extLst>
          </p:cNvPr>
          <p:cNvSpPr>
            <a:spLocks noGrp="1"/>
          </p:cNvSpPr>
          <p:nvPr>
            <p:ph type="ftr" sz="quarter" idx="11"/>
          </p:nvPr>
        </p:nvSpPr>
        <p:spPr/>
        <p:txBody>
          <a:bodyPr/>
          <a:lstStyle/>
          <a:p>
            <a:endParaRPr lang="en-PK" dirty="0"/>
          </a:p>
        </p:txBody>
      </p:sp>
      <p:sp>
        <p:nvSpPr>
          <p:cNvPr id="9" name="Slide Number Placeholder 8">
            <a:extLst>
              <a:ext uri="{FF2B5EF4-FFF2-40B4-BE49-F238E27FC236}">
                <a16:creationId xmlns:a16="http://schemas.microsoft.com/office/drawing/2014/main" id="{FFEA62C4-7547-8647-D8EE-3B2F72A36206}"/>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218137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C41A-D418-8E24-4E18-574C26A32A7D}"/>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98C94B52-1CBD-98C5-93C3-CB3436F9C384}"/>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4" name="Footer Placeholder 3">
            <a:extLst>
              <a:ext uri="{FF2B5EF4-FFF2-40B4-BE49-F238E27FC236}">
                <a16:creationId xmlns:a16="http://schemas.microsoft.com/office/drawing/2014/main" id="{BF2642F5-D335-73B6-4980-39901FB70E5C}"/>
              </a:ext>
            </a:extLst>
          </p:cNvPr>
          <p:cNvSpPr>
            <a:spLocks noGrp="1"/>
          </p:cNvSpPr>
          <p:nvPr>
            <p:ph type="ftr" sz="quarter" idx="11"/>
          </p:nvPr>
        </p:nvSpPr>
        <p:spPr/>
        <p:txBody>
          <a:bodyPr/>
          <a:lstStyle/>
          <a:p>
            <a:endParaRPr lang="en-PK" dirty="0"/>
          </a:p>
        </p:txBody>
      </p:sp>
      <p:sp>
        <p:nvSpPr>
          <p:cNvPr id="5" name="Slide Number Placeholder 4">
            <a:extLst>
              <a:ext uri="{FF2B5EF4-FFF2-40B4-BE49-F238E27FC236}">
                <a16:creationId xmlns:a16="http://schemas.microsoft.com/office/drawing/2014/main" id="{A360D8BB-BE01-70C1-8A33-28E3AC6A20EB}"/>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1771308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C3C227-3385-76DD-0F6C-EF2774C0348F}"/>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3" name="Footer Placeholder 2">
            <a:extLst>
              <a:ext uri="{FF2B5EF4-FFF2-40B4-BE49-F238E27FC236}">
                <a16:creationId xmlns:a16="http://schemas.microsoft.com/office/drawing/2014/main" id="{504CA5FE-3EFE-F3CC-5890-6D035C947CD0}"/>
              </a:ext>
            </a:extLst>
          </p:cNvPr>
          <p:cNvSpPr>
            <a:spLocks noGrp="1"/>
          </p:cNvSpPr>
          <p:nvPr>
            <p:ph type="ftr" sz="quarter" idx="11"/>
          </p:nvPr>
        </p:nvSpPr>
        <p:spPr/>
        <p:txBody>
          <a:bodyPr/>
          <a:lstStyle/>
          <a:p>
            <a:endParaRPr lang="en-PK" dirty="0"/>
          </a:p>
        </p:txBody>
      </p:sp>
      <p:sp>
        <p:nvSpPr>
          <p:cNvPr id="4" name="Slide Number Placeholder 3">
            <a:extLst>
              <a:ext uri="{FF2B5EF4-FFF2-40B4-BE49-F238E27FC236}">
                <a16:creationId xmlns:a16="http://schemas.microsoft.com/office/drawing/2014/main" id="{C0469D7F-9F08-8A26-1087-7D81150CBA76}"/>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162001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9EF8-6E4D-2DB1-5E79-DA75287C9A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E3A3A7F-5F10-236C-B969-2C0A6797C4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C35BA52-E31F-C639-B071-5D00074431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62622F-2289-28D5-DCF5-B6C0AD185216}"/>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6" name="Footer Placeholder 5">
            <a:extLst>
              <a:ext uri="{FF2B5EF4-FFF2-40B4-BE49-F238E27FC236}">
                <a16:creationId xmlns:a16="http://schemas.microsoft.com/office/drawing/2014/main" id="{06F32913-0C2C-F093-4B86-F15F208DC5EC}"/>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49BBB8A4-B348-CF5B-A820-9D126597AC60}"/>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3870960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C2C6-292D-FFB6-5C00-ED9DFB831B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E57E1E7-2D07-6FC2-7A18-A92C102217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dirty="0"/>
          </a:p>
        </p:txBody>
      </p:sp>
      <p:sp>
        <p:nvSpPr>
          <p:cNvPr id="4" name="Text Placeholder 3">
            <a:extLst>
              <a:ext uri="{FF2B5EF4-FFF2-40B4-BE49-F238E27FC236}">
                <a16:creationId xmlns:a16="http://schemas.microsoft.com/office/drawing/2014/main" id="{00EE5F83-FE1D-E853-C9ED-82495E31E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E1CAB1-A00E-057D-2642-6678ADA9FD7B}"/>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6" name="Footer Placeholder 5">
            <a:extLst>
              <a:ext uri="{FF2B5EF4-FFF2-40B4-BE49-F238E27FC236}">
                <a16:creationId xmlns:a16="http://schemas.microsoft.com/office/drawing/2014/main" id="{7AE06CCB-1792-EAAD-F1F1-94C17B363E8C}"/>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4172EB39-82A4-57CC-6E0B-45378E15A731}"/>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288186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D21F8-A5C0-7670-2E87-4E46BC6F69F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B6375E11-4F33-59A9-E362-1EEEDAD5BE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4B69037-B755-C55C-4D5C-1CA27BE136ED}"/>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5" name="Footer Placeholder 4">
            <a:extLst>
              <a:ext uri="{FF2B5EF4-FFF2-40B4-BE49-F238E27FC236}">
                <a16:creationId xmlns:a16="http://schemas.microsoft.com/office/drawing/2014/main" id="{3B33A304-A883-06B8-68B4-9E430A7033AC}"/>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E5000195-0E36-DFD6-2053-4F8BDEBD429B}"/>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663583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C507C7-66E5-0A0B-585B-A84CE7D2F8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31028C27-0D92-4432-C378-6DFD3564AF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670F5BF-C228-724C-DE97-4480D478B4E5}"/>
              </a:ext>
            </a:extLst>
          </p:cNvPr>
          <p:cNvSpPr>
            <a:spLocks noGrp="1"/>
          </p:cNvSpPr>
          <p:nvPr>
            <p:ph type="dt" sz="half" idx="10"/>
          </p:nvPr>
        </p:nvSpPr>
        <p:spPr/>
        <p:txBody>
          <a:bodyPr/>
          <a:lstStyle/>
          <a:p>
            <a:fld id="{EC88E2F3-9E95-4CFB-BCB8-6811802ADDCA}" type="datetimeFigureOut">
              <a:rPr lang="en-PK" smtClean="0"/>
              <a:t>22/02/2026</a:t>
            </a:fld>
            <a:endParaRPr lang="en-PK" dirty="0"/>
          </a:p>
        </p:txBody>
      </p:sp>
      <p:sp>
        <p:nvSpPr>
          <p:cNvPr id="5" name="Footer Placeholder 4">
            <a:extLst>
              <a:ext uri="{FF2B5EF4-FFF2-40B4-BE49-F238E27FC236}">
                <a16:creationId xmlns:a16="http://schemas.microsoft.com/office/drawing/2014/main" id="{A285D333-8706-19F4-E466-3F9AAA25A31B}"/>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5F899402-B0C0-F635-99C9-38739E2947B6}"/>
              </a:ext>
            </a:extLst>
          </p:cNvPr>
          <p:cNvSpPr>
            <a:spLocks noGrp="1"/>
          </p:cNvSpPr>
          <p:nvPr>
            <p:ph type="sldNum" sz="quarter" idx="12"/>
          </p:nvPr>
        </p:nvSpPr>
        <p:spPr/>
        <p:txBody>
          <a:bodyPr/>
          <a:lstStyle/>
          <a:p>
            <a:fld id="{214153A4-46DB-42F8-82B4-272B014788B0}" type="slidenum">
              <a:rPr lang="en-PK" smtClean="0"/>
              <a:t>‹#›</a:t>
            </a:fld>
            <a:endParaRPr lang="en-PK" dirty="0"/>
          </a:p>
        </p:txBody>
      </p:sp>
    </p:spTree>
    <p:extLst>
      <p:ext uri="{BB962C8B-B14F-4D97-AF65-F5344CB8AC3E}">
        <p14:creationId xmlns:p14="http://schemas.microsoft.com/office/powerpoint/2010/main" val="239083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1B04-B2EB-A016-43A7-5B30466C5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48D3D9-6CF7-FBB6-7C9A-74D0A250CE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93B32CB-1333-4070-E574-FD14F2399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88E2F3-9E95-4CFB-BCB8-6811802ADDCA}" type="datetimeFigureOut">
              <a:rPr lang="en-PK" smtClean="0"/>
              <a:t>22/02/2026</a:t>
            </a:fld>
            <a:endParaRPr lang="en-PK" dirty="0"/>
          </a:p>
        </p:txBody>
      </p:sp>
      <p:sp>
        <p:nvSpPr>
          <p:cNvPr id="5" name="Footer Placeholder 4">
            <a:extLst>
              <a:ext uri="{FF2B5EF4-FFF2-40B4-BE49-F238E27FC236}">
                <a16:creationId xmlns:a16="http://schemas.microsoft.com/office/drawing/2014/main" id="{CD6BEE9B-FF48-E2D4-0A28-2F95BBD9C4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dirty="0"/>
          </a:p>
        </p:txBody>
      </p:sp>
      <p:sp>
        <p:nvSpPr>
          <p:cNvPr id="6" name="Slide Number Placeholder 5">
            <a:extLst>
              <a:ext uri="{FF2B5EF4-FFF2-40B4-BE49-F238E27FC236}">
                <a16:creationId xmlns:a16="http://schemas.microsoft.com/office/drawing/2014/main" id="{07DC93DB-E0FB-A639-B667-1313720507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4153A4-46DB-42F8-82B4-272B014788B0}" type="slidenum">
              <a:rPr lang="en-PK" smtClean="0"/>
              <a:t>‹#›</a:t>
            </a:fld>
            <a:endParaRPr lang="en-PK" dirty="0"/>
          </a:p>
        </p:txBody>
      </p:sp>
    </p:spTree>
    <p:extLst>
      <p:ext uri="{BB962C8B-B14F-4D97-AF65-F5344CB8AC3E}">
        <p14:creationId xmlns:p14="http://schemas.microsoft.com/office/powerpoint/2010/main" val="4242425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1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DA1337-1921-F879-7747-37FD6BBAFAB2}"/>
              </a:ext>
            </a:extLst>
          </p:cNvPr>
          <p:cNvSpPr txBox="1"/>
          <p:nvPr/>
        </p:nvSpPr>
        <p:spPr>
          <a:xfrm>
            <a:off x="205863" y="797510"/>
            <a:ext cx="11780274" cy="5262979"/>
          </a:xfrm>
          <a:prstGeom prst="rect">
            <a:avLst/>
          </a:prstGeom>
          <a:noFill/>
        </p:spPr>
        <p:txBody>
          <a:bodyPr wrap="square" rtlCol="0">
            <a:spAutoFit/>
          </a:bodyPr>
          <a:lstStyle/>
          <a:p>
            <a:pPr algn="ctr"/>
            <a:r>
              <a:rPr lang="en-US" sz="2500" b="1" dirty="0">
                <a:latin typeface="Times New Roman" panose="02020603050405020304" pitchFamily="18" charset="0"/>
                <a:cs typeface="Times New Roman" panose="02020603050405020304" pitchFamily="18" charset="0"/>
              </a:rPr>
              <a:t>Introduction of MySQL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MySQL is an open-source Relational Database Management System </a:t>
            </a:r>
            <a:r>
              <a:rPr lang="en-US" sz="2400" b="1" dirty="0">
                <a:latin typeface="Times New Roman" panose="02020603050405020304" pitchFamily="18" charset="0"/>
                <a:cs typeface="Times New Roman" panose="02020603050405020304" pitchFamily="18" charset="0"/>
              </a:rPr>
              <a:t>(RDBMS) </a:t>
            </a:r>
            <a:r>
              <a:rPr lang="en-US" sz="2400" dirty="0">
                <a:latin typeface="Times New Roman" panose="02020603050405020304" pitchFamily="18" charset="0"/>
                <a:cs typeface="Times New Roman" panose="02020603050405020304" pitchFamily="18" charset="0"/>
              </a:rPr>
              <a:t>used to store, organize, and manage structured data in the form of tables. It uses Structured Query Language (SQL) to perform operations such as inserting, updating, deleting, and retrieving data efficiently. MySQL is widely used in web applications, business software, and backend systems because it can handle large amounts of data securely and quickly.</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the field of </a:t>
            </a:r>
            <a:r>
              <a:rPr lang="en-US" sz="2400" b="1" dirty="0">
                <a:latin typeface="Times New Roman" panose="02020603050405020304" pitchFamily="18" charset="0"/>
                <a:cs typeface="Times New Roman" panose="02020603050405020304" pitchFamily="18" charset="0"/>
              </a:rPr>
              <a:t>data analysis</a:t>
            </a:r>
            <a:r>
              <a:rPr lang="en-US" sz="2400" dirty="0">
                <a:latin typeface="Times New Roman" panose="02020603050405020304" pitchFamily="18" charset="0"/>
                <a:cs typeface="Times New Roman" panose="02020603050405020304" pitchFamily="18" charset="0"/>
              </a:rPr>
              <a:t>, MySQL plays an important role as a data storage system. Analysts use SQL queries to filter data, perform calculations, group records, and join multiple tables to extract meaningful information. This prepared data is then imported into tools like Python, Excel, Power BI, or other BI platforms for deeper analysis and visualization. By using MySQL, organizations can manage their data properly and make accurate, data-driven decisions.</a:t>
            </a:r>
          </a:p>
        </p:txBody>
      </p:sp>
    </p:spTree>
    <p:extLst>
      <p:ext uri="{BB962C8B-B14F-4D97-AF65-F5344CB8AC3E}">
        <p14:creationId xmlns:p14="http://schemas.microsoft.com/office/powerpoint/2010/main" val="3681204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63AAE7F-3E73-954C-F048-F59B058D3D69}"/>
              </a:ext>
            </a:extLst>
          </p:cNvPr>
          <p:cNvSpPr>
            <a:spLocks noGrp="1"/>
          </p:cNvSpPr>
          <p:nvPr>
            <p:ph type="subTitle" idx="1"/>
          </p:nvPr>
        </p:nvSpPr>
        <p:spPr>
          <a:xfrm>
            <a:off x="774290" y="870155"/>
            <a:ext cx="10643419" cy="1150373"/>
          </a:xfrm>
        </p:spPr>
        <p:txBody>
          <a:bodyPr>
            <a:normAutofit/>
          </a:bodyPr>
          <a:lstStyle/>
          <a:p>
            <a:r>
              <a:rPr lang="en-PK" sz="2000" b="1" dirty="0">
                <a:latin typeface="Times New Roman" panose="02020603050405020304" pitchFamily="18" charset="0"/>
                <a:cs typeface="Times New Roman" panose="02020603050405020304" pitchFamily="18" charset="0"/>
              </a:rPr>
              <a:t>Problem 1 — Salary Expense Report</a:t>
            </a:r>
            <a:br>
              <a:rPr lang="en-PK" sz="2000" dirty="0">
                <a:latin typeface="Times New Roman" panose="02020603050405020304" pitchFamily="18" charset="0"/>
                <a:cs typeface="Times New Roman" panose="02020603050405020304" pitchFamily="18" charset="0"/>
              </a:rPr>
            </a:br>
            <a:r>
              <a:rPr lang="en-PK" sz="2000" dirty="0">
                <a:latin typeface="Times New Roman" panose="02020603050405020304" pitchFamily="18" charset="0"/>
                <a:cs typeface="Times New Roman" panose="02020603050405020304" pitchFamily="18" charset="0"/>
              </a:rPr>
              <a:t>“The total salary expense for each department, including base salary, bonus, overtime, and commission.”</a:t>
            </a:r>
          </a:p>
          <a:p>
            <a:endParaRPr lang="en-PK" sz="20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3DE53170-951F-AF70-7B93-6181D9EFF76F}"/>
              </a:ext>
            </a:extLst>
          </p:cNvPr>
          <p:cNvSpPr txBox="1">
            <a:spLocks/>
          </p:cNvSpPr>
          <p:nvPr/>
        </p:nvSpPr>
        <p:spPr>
          <a:xfrm>
            <a:off x="774288" y="2116394"/>
            <a:ext cx="10643419" cy="115037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K" sz="2000" b="1" dirty="0">
                <a:latin typeface="Times New Roman" panose="02020603050405020304" pitchFamily="18" charset="0"/>
                <a:cs typeface="Times New Roman" panose="02020603050405020304" pitchFamily="18" charset="0"/>
              </a:rPr>
              <a:t>Problem 2 — High Performers List</a:t>
            </a:r>
            <a:br>
              <a:rPr lang="en-PK" sz="2000" dirty="0">
                <a:latin typeface="Times New Roman" panose="02020603050405020304" pitchFamily="18" charset="0"/>
                <a:cs typeface="Times New Roman" panose="02020603050405020304" pitchFamily="18" charset="0"/>
              </a:rPr>
            </a:br>
            <a:r>
              <a:rPr lang="en-PK" sz="2000" dirty="0">
                <a:latin typeface="Times New Roman" panose="02020603050405020304" pitchFamily="18" charset="0"/>
                <a:cs typeface="Times New Roman" panose="02020603050405020304" pitchFamily="18" charset="0"/>
              </a:rPr>
              <a:t>“I want a list of employees whose performance score is greater than 8.”</a:t>
            </a:r>
          </a:p>
        </p:txBody>
      </p:sp>
      <p:sp>
        <p:nvSpPr>
          <p:cNvPr id="5" name="Subtitle 2">
            <a:extLst>
              <a:ext uri="{FF2B5EF4-FFF2-40B4-BE49-F238E27FC236}">
                <a16:creationId xmlns:a16="http://schemas.microsoft.com/office/drawing/2014/main" id="{9AAE1656-7889-8D08-AC8A-84CEA6D521C8}"/>
              </a:ext>
            </a:extLst>
          </p:cNvPr>
          <p:cNvSpPr txBox="1">
            <a:spLocks/>
          </p:cNvSpPr>
          <p:nvPr/>
        </p:nvSpPr>
        <p:spPr>
          <a:xfrm>
            <a:off x="774287" y="3362633"/>
            <a:ext cx="10643419" cy="115037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K" sz="2000" b="1" dirty="0">
                <a:latin typeface="Times New Roman" panose="02020603050405020304" pitchFamily="18" charset="0"/>
                <a:cs typeface="Times New Roman" panose="02020603050405020304" pitchFamily="18" charset="0"/>
              </a:rPr>
              <a:t>Problem 3 — Longest Working Employees</a:t>
            </a:r>
            <a:br>
              <a:rPr lang="en-PK" sz="2000" dirty="0">
                <a:latin typeface="Times New Roman" panose="02020603050405020304" pitchFamily="18" charset="0"/>
                <a:cs typeface="Times New Roman" panose="02020603050405020304" pitchFamily="18" charset="0"/>
              </a:rPr>
            </a:br>
            <a:r>
              <a:rPr lang="en-PK" sz="2000" dirty="0">
                <a:latin typeface="Times New Roman" panose="02020603050405020304" pitchFamily="18" charset="0"/>
                <a:cs typeface="Times New Roman" panose="02020603050405020304" pitchFamily="18" charset="0"/>
              </a:rPr>
              <a:t>“Show me the top 5 employees who have been working in the company for the longest time.”</a:t>
            </a:r>
          </a:p>
        </p:txBody>
      </p:sp>
      <p:sp>
        <p:nvSpPr>
          <p:cNvPr id="6" name="Subtitle 2">
            <a:extLst>
              <a:ext uri="{FF2B5EF4-FFF2-40B4-BE49-F238E27FC236}">
                <a16:creationId xmlns:a16="http://schemas.microsoft.com/office/drawing/2014/main" id="{376FC192-32EE-A245-445D-0ECADE0B7520}"/>
              </a:ext>
            </a:extLst>
          </p:cNvPr>
          <p:cNvSpPr txBox="1">
            <a:spLocks/>
          </p:cNvSpPr>
          <p:nvPr/>
        </p:nvSpPr>
        <p:spPr>
          <a:xfrm>
            <a:off x="774286" y="4704738"/>
            <a:ext cx="10643419" cy="115037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K" sz="2000" b="1" dirty="0">
                <a:latin typeface="Times New Roman" panose="02020603050405020304" pitchFamily="18" charset="0"/>
                <a:cs typeface="Times New Roman" panose="02020603050405020304" pitchFamily="18" charset="0"/>
              </a:rPr>
              <a:t>Problem 4 — City-wise Employee Distribution</a:t>
            </a:r>
            <a:br>
              <a:rPr lang="en-PK" sz="2000" dirty="0">
                <a:latin typeface="Times New Roman" panose="02020603050405020304" pitchFamily="18" charset="0"/>
                <a:cs typeface="Times New Roman" panose="02020603050405020304" pitchFamily="18" charset="0"/>
              </a:rPr>
            </a:br>
            <a:r>
              <a:rPr lang="en-PK"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H</a:t>
            </a:r>
            <a:r>
              <a:rPr lang="en-PK" sz="2000" dirty="0">
                <a:latin typeface="Times New Roman" panose="02020603050405020304" pitchFamily="18" charset="0"/>
                <a:cs typeface="Times New Roman" panose="02020603050405020304" pitchFamily="18" charset="0"/>
              </a:rPr>
              <a:t>ow many employees are working in each city.”</a:t>
            </a:r>
          </a:p>
        </p:txBody>
      </p:sp>
    </p:spTree>
    <p:extLst>
      <p:ext uri="{BB962C8B-B14F-4D97-AF65-F5344CB8AC3E}">
        <p14:creationId xmlns:p14="http://schemas.microsoft.com/office/powerpoint/2010/main" val="2189332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653EC23-0707-BAB5-1897-A49D2057C7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549" y="175333"/>
            <a:ext cx="5116938" cy="2671106"/>
          </a:xfrm>
          <a:prstGeom prst="rect">
            <a:avLst/>
          </a:prstGeom>
        </p:spPr>
      </p:pic>
      <p:pic>
        <p:nvPicPr>
          <p:cNvPr id="9" name="Picture 8">
            <a:extLst>
              <a:ext uri="{FF2B5EF4-FFF2-40B4-BE49-F238E27FC236}">
                <a16:creationId xmlns:a16="http://schemas.microsoft.com/office/drawing/2014/main" id="{79AC0E1A-48A1-0DC6-A651-56A42448AA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622" y="175333"/>
            <a:ext cx="6383034" cy="2405635"/>
          </a:xfrm>
          <a:prstGeom prst="rect">
            <a:avLst/>
          </a:prstGeom>
        </p:spPr>
      </p:pic>
      <p:pic>
        <p:nvPicPr>
          <p:cNvPr id="11" name="Picture 10">
            <a:extLst>
              <a:ext uri="{FF2B5EF4-FFF2-40B4-BE49-F238E27FC236}">
                <a16:creationId xmlns:a16="http://schemas.microsoft.com/office/drawing/2014/main" id="{5872A60D-F695-47E9-5ACE-9908BF53B6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57200" y="3267184"/>
            <a:ext cx="6383034" cy="3002119"/>
          </a:xfrm>
          <a:prstGeom prst="rect">
            <a:avLst/>
          </a:prstGeom>
        </p:spPr>
      </p:pic>
      <p:pic>
        <p:nvPicPr>
          <p:cNvPr id="13" name="Picture 12">
            <a:extLst>
              <a:ext uri="{FF2B5EF4-FFF2-40B4-BE49-F238E27FC236}">
                <a16:creationId xmlns:a16="http://schemas.microsoft.com/office/drawing/2014/main" id="{8BA1FEE7-0BC1-4629-87C0-9BAAD196A1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766" y="3074216"/>
            <a:ext cx="5453767" cy="3268827"/>
          </a:xfrm>
          <a:prstGeom prst="rect">
            <a:avLst/>
          </a:prstGeom>
        </p:spPr>
      </p:pic>
    </p:spTree>
    <p:extLst>
      <p:ext uri="{BB962C8B-B14F-4D97-AF65-F5344CB8AC3E}">
        <p14:creationId xmlns:p14="http://schemas.microsoft.com/office/powerpoint/2010/main" val="1462431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7330B-ECD1-3A66-DB69-2E41C259F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184" y="226636"/>
            <a:ext cx="5668816" cy="2887886"/>
          </a:xfrm>
          <a:prstGeom prst="rect">
            <a:avLst/>
          </a:prstGeom>
        </p:spPr>
      </p:pic>
      <p:pic>
        <p:nvPicPr>
          <p:cNvPr id="5" name="Picture 4">
            <a:extLst>
              <a:ext uri="{FF2B5EF4-FFF2-40B4-BE49-F238E27FC236}">
                <a16:creationId xmlns:a16="http://schemas.microsoft.com/office/drawing/2014/main" id="{42026E8D-E9E6-EA2F-3DD6-5FCA9B6104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534" y="226636"/>
            <a:ext cx="4524355" cy="2887886"/>
          </a:xfrm>
          <a:prstGeom prst="rect">
            <a:avLst/>
          </a:prstGeom>
        </p:spPr>
      </p:pic>
      <p:pic>
        <p:nvPicPr>
          <p:cNvPr id="7" name="Picture 6">
            <a:extLst>
              <a:ext uri="{FF2B5EF4-FFF2-40B4-BE49-F238E27FC236}">
                <a16:creationId xmlns:a16="http://schemas.microsoft.com/office/drawing/2014/main" id="{0E0351AE-8214-E11F-B371-96B6F16A71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99883" y="3276799"/>
            <a:ext cx="5179535" cy="3183435"/>
          </a:xfrm>
          <a:prstGeom prst="rect">
            <a:avLst/>
          </a:prstGeom>
        </p:spPr>
      </p:pic>
      <p:pic>
        <p:nvPicPr>
          <p:cNvPr id="9" name="Picture 8">
            <a:extLst>
              <a:ext uri="{FF2B5EF4-FFF2-40B4-BE49-F238E27FC236}">
                <a16:creationId xmlns:a16="http://schemas.microsoft.com/office/drawing/2014/main" id="{0D23AC42-A212-4D94-1BA1-184BD002E1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7020" y="3276799"/>
            <a:ext cx="5179535" cy="2887886"/>
          </a:xfrm>
          <a:prstGeom prst="rect">
            <a:avLst/>
          </a:prstGeom>
        </p:spPr>
      </p:pic>
    </p:spTree>
    <p:extLst>
      <p:ext uri="{BB962C8B-B14F-4D97-AF65-F5344CB8AC3E}">
        <p14:creationId xmlns:p14="http://schemas.microsoft.com/office/powerpoint/2010/main" val="326672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FDAF51A1-B32F-EB2C-81C3-F5F79D736236}"/>
              </a:ext>
            </a:extLst>
          </p:cNvPr>
          <p:cNvSpPr txBox="1">
            <a:spLocks/>
          </p:cNvSpPr>
          <p:nvPr/>
        </p:nvSpPr>
        <p:spPr>
          <a:xfrm>
            <a:off x="774290" y="457200"/>
            <a:ext cx="10643419" cy="10176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Problem 2 – Filter by Department</a:t>
            </a:r>
          </a:p>
          <a:p>
            <a:pPr marL="0" indent="0" algn="ctr">
              <a:lnSpc>
                <a:spcPct val="100000"/>
              </a:lnSpc>
              <a:buNone/>
            </a:pPr>
            <a:r>
              <a:rPr lang="en-US" sz="2000" dirty="0">
                <a:latin typeface="Times New Roman" panose="02020603050405020304" pitchFamily="18" charset="0"/>
                <a:cs typeface="Times New Roman" panose="02020603050405020304" pitchFamily="18" charset="0"/>
              </a:rPr>
              <a:t>Retrieve all employees working in the </a:t>
            </a:r>
            <a:r>
              <a:rPr lang="en-US" dirty="0">
                <a:latin typeface="Times New Roman" panose="02020603050405020304" pitchFamily="18" charset="0"/>
                <a:cs typeface="Times New Roman" panose="02020603050405020304" pitchFamily="18" charset="0"/>
              </a:rPr>
              <a:t>HR</a:t>
            </a:r>
            <a:r>
              <a:rPr lang="en-US" sz="2000" dirty="0">
                <a:latin typeface="Times New Roman" panose="02020603050405020304" pitchFamily="18" charset="0"/>
                <a:cs typeface="Times New Roman" panose="02020603050405020304" pitchFamily="18" charset="0"/>
              </a:rPr>
              <a:t> department.</a:t>
            </a:r>
          </a:p>
        </p:txBody>
      </p:sp>
      <p:sp>
        <p:nvSpPr>
          <p:cNvPr id="3" name="Subtitle 2">
            <a:extLst>
              <a:ext uri="{FF2B5EF4-FFF2-40B4-BE49-F238E27FC236}">
                <a16:creationId xmlns:a16="http://schemas.microsoft.com/office/drawing/2014/main" id="{4AFB8B8A-29DE-1FA2-BF34-C70136F1CE85}"/>
              </a:ext>
            </a:extLst>
          </p:cNvPr>
          <p:cNvSpPr txBox="1">
            <a:spLocks/>
          </p:cNvSpPr>
          <p:nvPr/>
        </p:nvSpPr>
        <p:spPr>
          <a:xfrm>
            <a:off x="774289" y="1946787"/>
            <a:ext cx="10643419" cy="11503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Problem 3 – Sort by Salary</a:t>
            </a:r>
          </a:p>
          <a:p>
            <a:pPr marL="0" indent="0" algn="ctr">
              <a:buNone/>
            </a:pPr>
            <a:r>
              <a:rPr lang="en-US" sz="2000" dirty="0">
                <a:latin typeface="Times New Roman" panose="02020603050405020304" pitchFamily="18" charset="0"/>
                <a:cs typeface="Times New Roman" panose="02020603050405020304" pitchFamily="18" charset="0"/>
              </a:rPr>
              <a:t>List employees in descending order of their </a:t>
            </a:r>
            <a:r>
              <a:rPr lang="en-US" dirty="0">
                <a:latin typeface="Times New Roman" panose="02020603050405020304" pitchFamily="18" charset="0"/>
                <a:cs typeface="Times New Roman" panose="02020603050405020304" pitchFamily="18" charset="0"/>
              </a:rPr>
              <a:t>Salary</a:t>
            </a:r>
            <a:r>
              <a:rPr lang="en-US" sz="2000" dirty="0">
                <a:latin typeface="Times New Roman" panose="02020603050405020304" pitchFamily="18" charset="0"/>
                <a:cs typeface="Times New Roman" panose="02020603050405020304" pitchFamily="18" charset="0"/>
              </a:rPr>
              <a:t>.</a:t>
            </a:r>
          </a:p>
        </p:txBody>
      </p:sp>
      <p:sp>
        <p:nvSpPr>
          <p:cNvPr id="4" name="Subtitle 2">
            <a:extLst>
              <a:ext uri="{FF2B5EF4-FFF2-40B4-BE49-F238E27FC236}">
                <a16:creationId xmlns:a16="http://schemas.microsoft.com/office/drawing/2014/main" id="{DFD3DB28-026F-2A3F-C270-2E1C36C645C5}"/>
              </a:ext>
            </a:extLst>
          </p:cNvPr>
          <p:cNvSpPr txBox="1">
            <a:spLocks/>
          </p:cNvSpPr>
          <p:nvPr/>
        </p:nvSpPr>
        <p:spPr>
          <a:xfrm>
            <a:off x="582561" y="3569110"/>
            <a:ext cx="10643419" cy="11503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Problem 4 – Department IT</a:t>
            </a:r>
          </a:p>
          <a:p>
            <a:pPr marL="0" indent="0" algn="ctr">
              <a:buNone/>
            </a:pPr>
            <a:r>
              <a:rPr lang="en-US" sz="2000" dirty="0">
                <a:latin typeface="Times New Roman" panose="02020603050405020304" pitchFamily="18" charset="0"/>
                <a:cs typeface="Times New Roman" panose="02020603050405020304" pitchFamily="18" charset="0"/>
              </a:rPr>
              <a:t>Select all Employes Where Department is IT</a:t>
            </a:r>
          </a:p>
        </p:txBody>
      </p:sp>
      <p:sp>
        <p:nvSpPr>
          <p:cNvPr id="5" name="Subtitle 2">
            <a:extLst>
              <a:ext uri="{FF2B5EF4-FFF2-40B4-BE49-F238E27FC236}">
                <a16:creationId xmlns:a16="http://schemas.microsoft.com/office/drawing/2014/main" id="{711677C6-975F-838F-1A97-C07A5236E04B}"/>
              </a:ext>
            </a:extLst>
          </p:cNvPr>
          <p:cNvSpPr txBox="1">
            <a:spLocks/>
          </p:cNvSpPr>
          <p:nvPr/>
        </p:nvSpPr>
        <p:spPr>
          <a:xfrm>
            <a:off x="774289" y="5058697"/>
            <a:ext cx="10643419" cy="11503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PK" sz="2000" b="1" dirty="0">
                <a:latin typeface="Times New Roman" panose="02020603050405020304" pitchFamily="18" charset="0"/>
                <a:cs typeface="Times New Roman" panose="02020603050405020304" pitchFamily="18" charset="0"/>
              </a:rPr>
              <a:t>Problem 1 — </a:t>
            </a:r>
            <a:r>
              <a:rPr lang="en-US" sz="2000" b="1" dirty="0">
                <a:latin typeface="Times New Roman" panose="02020603050405020304" pitchFamily="18" charset="0"/>
                <a:cs typeface="Times New Roman" panose="02020603050405020304" pitchFamily="18" charset="0"/>
              </a:rPr>
              <a:t>Name Start from “A”</a:t>
            </a:r>
            <a:br>
              <a:rPr lang="en-PK"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Employs name start from “A”</a:t>
            </a:r>
            <a:endParaRPr lang="en-PK"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8782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72B113-DFE7-CAD7-416F-7C6B5905AB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7057" y="291025"/>
            <a:ext cx="6484943" cy="2584907"/>
          </a:xfrm>
          <a:prstGeom prst="rect">
            <a:avLst/>
          </a:prstGeom>
        </p:spPr>
      </p:pic>
      <p:pic>
        <p:nvPicPr>
          <p:cNvPr id="5" name="Picture 4">
            <a:extLst>
              <a:ext uri="{FF2B5EF4-FFF2-40B4-BE49-F238E27FC236}">
                <a16:creationId xmlns:a16="http://schemas.microsoft.com/office/drawing/2014/main" id="{9BEBCEED-7161-EE1E-7F59-0C498EE315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792" y="217283"/>
            <a:ext cx="5135578" cy="2584907"/>
          </a:xfrm>
          <a:prstGeom prst="rect">
            <a:avLst/>
          </a:prstGeom>
        </p:spPr>
      </p:pic>
      <p:pic>
        <p:nvPicPr>
          <p:cNvPr id="7" name="Picture 6">
            <a:extLst>
              <a:ext uri="{FF2B5EF4-FFF2-40B4-BE49-F238E27FC236}">
                <a16:creationId xmlns:a16="http://schemas.microsoft.com/office/drawing/2014/main" id="{12E41B95-2260-B1F1-5CEF-E19F0FA81D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6247" y="3429000"/>
            <a:ext cx="5223912" cy="3137975"/>
          </a:xfrm>
          <a:prstGeom prst="rect">
            <a:avLst/>
          </a:prstGeom>
        </p:spPr>
      </p:pic>
      <p:pic>
        <p:nvPicPr>
          <p:cNvPr id="9" name="Picture 8">
            <a:extLst>
              <a:ext uri="{FF2B5EF4-FFF2-40B4-BE49-F238E27FC236}">
                <a16:creationId xmlns:a16="http://schemas.microsoft.com/office/drawing/2014/main" id="{86DF357D-6BA9-4E95-BE74-C52B3671F5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792" y="3797187"/>
            <a:ext cx="5740798" cy="2188679"/>
          </a:xfrm>
          <a:prstGeom prst="rect">
            <a:avLst/>
          </a:prstGeom>
        </p:spPr>
      </p:pic>
    </p:spTree>
    <p:extLst>
      <p:ext uri="{BB962C8B-B14F-4D97-AF65-F5344CB8AC3E}">
        <p14:creationId xmlns:p14="http://schemas.microsoft.com/office/powerpoint/2010/main" val="2788634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962DB0-2764-6201-4259-E9C668740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7367" y="180730"/>
            <a:ext cx="4760840" cy="2535664"/>
          </a:xfrm>
          <a:prstGeom prst="rect">
            <a:avLst/>
          </a:prstGeom>
        </p:spPr>
      </p:pic>
      <p:pic>
        <p:nvPicPr>
          <p:cNvPr id="5" name="Picture 4">
            <a:extLst>
              <a:ext uri="{FF2B5EF4-FFF2-40B4-BE49-F238E27FC236}">
                <a16:creationId xmlns:a16="http://schemas.microsoft.com/office/drawing/2014/main" id="{0FAED2F0-B68C-0DFF-788A-6B282416CE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64" y="558159"/>
            <a:ext cx="6161326" cy="1780805"/>
          </a:xfrm>
          <a:prstGeom prst="rect">
            <a:avLst/>
          </a:prstGeom>
        </p:spPr>
      </p:pic>
      <p:pic>
        <p:nvPicPr>
          <p:cNvPr id="7" name="Picture 6">
            <a:extLst>
              <a:ext uri="{FF2B5EF4-FFF2-40B4-BE49-F238E27FC236}">
                <a16:creationId xmlns:a16="http://schemas.microsoft.com/office/drawing/2014/main" id="{657826AB-CEF9-4220-2E5F-C9F9A2F884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6286" y="3713860"/>
            <a:ext cx="5645714" cy="2142805"/>
          </a:xfrm>
          <a:prstGeom prst="rect">
            <a:avLst/>
          </a:prstGeom>
        </p:spPr>
      </p:pic>
      <p:pic>
        <p:nvPicPr>
          <p:cNvPr id="9" name="Picture 8">
            <a:extLst>
              <a:ext uri="{FF2B5EF4-FFF2-40B4-BE49-F238E27FC236}">
                <a16:creationId xmlns:a16="http://schemas.microsoft.com/office/drawing/2014/main" id="{0B6ECF2B-6417-D7BF-35D4-C0AB062A72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6415" y="4006064"/>
            <a:ext cx="5963625" cy="1780804"/>
          </a:xfrm>
          <a:prstGeom prst="rect">
            <a:avLst/>
          </a:prstGeom>
        </p:spPr>
      </p:pic>
    </p:spTree>
    <p:extLst>
      <p:ext uri="{BB962C8B-B14F-4D97-AF65-F5344CB8AC3E}">
        <p14:creationId xmlns:p14="http://schemas.microsoft.com/office/powerpoint/2010/main" val="3349621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050D4B-B7E1-F97E-C0E4-7E0957BB1028}"/>
              </a:ext>
            </a:extLst>
          </p:cNvPr>
          <p:cNvSpPr txBox="1"/>
          <p:nvPr/>
        </p:nvSpPr>
        <p:spPr>
          <a:xfrm>
            <a:off x="176981" y="199103"/>
            <a:ext cx="11739716" cy="6555641"/>
          </a:xfrm>
          <a:prstGeom prst="rect">
            <a:avLst/>
          </a:prstGeom>
          <a:noFill/>
        </p:spPr>
        <p:txBody>
          <a:bodyPr wrap="square" rtlCol="0">
            <a:spAutoFit/>
          </a:bodyPr>
          <a:lstStyle/>
          <a:p>
            <a:pPr algn="ctr">
              <a:spcBef>
                <a:spcPts val="600"/>
              </a:spcBef>
              <a:spcAft>
                <a:spcPts val="600"/>
              </a:spcAft>
            </a:pPr>
            <a:r>
              <a:rPr lang="en-US" sz="2500" b="1" dirty="0">
                <a:latin typeface="Times New Roman" panose="02020603050405020304" pitchFamily="18" charset="0"/>
                <a:cs typeface="Times New Roman" panose="02020603050405020304" pitchFamily="18" charset="0"/>
              </a:rPr>
              <a:t>Python for Data Analysis</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Python is a versatile, high-level programming language that is widely appreciated for its simplicity, readability, and flexibility. Its ease of use makes it suitable for both beginners and experienced developers, and it is employed across multiple domains, including web development, software engineering, automation, artificial intelligence, machine learning, and data analysis.</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In the field of </a:t>
            </a:r>
            <a:r>
              <a:rPr lang="en-US" sz="2400" b="1" dirty="0">
                <a:latin typeface="Times New Roman" panose="02020603050405020304" pitchFamily="18" charset="0"/>
                <a:cs typeface="Times New Roman" panose="02020603050405020304" pitchFamily="18" charset="0"/>
              </a:rPr>
              <a:t>data analysis</a:t>
            </a:r>
            <a:r>
              <a:rPr lang="en-US" sz="2400" dirty="0">
                <a:latin typeface="Times New Roman" panose="02020603050405020304" pitchFamily="18" charset="0"/>
                <a:cs typeface="Times New Roman" panose="02020603050405020304" pitchFamily="18" charset="0"/>
              </a:rPr>
              <a:t>, Python is particularly powerful due to its rich ecosystem of libraries:</a:t>
            </a:r>
          </a:p>
          <a:p>
            <a:pPr>
              <a:spcBef>
                <a:spcPts val="600"/>
              </a:spcBef>
              <a:spcAft>
                <a:spcPts val="600"/>
              </a:spcAft>
            </a:pPr>
            <a:r>
              <a:rPr lang="en-US" sz="2400" b="1" dirty="0">
                <a:latin typeface="Times New Roman" panose="02020603050405020304" pitchFamily="18" charset="0"/>
                <a:cs typeface="Times New Roman" panose="02020603050405020304" pitchFamily="18" charset="0"/>
              </a:rPr>
              <a:t>Pandas:</a:t>
            </a:r>
            <a:r>
              <a:rPr lang="en-US" sz="2400" dirty="0">
                <a:latin typeface="Times New Roman" panose="02020603050405020304" pitchFamily="18" charset="0"/>
                <a:cs typeface="Times New Roman" panose="02020603050405020304" pitchFamily="18" charset="0"/>
              </a:rPr>
              <a:t> Provides efficient tools for data manipulation, cleaning, and transformation.</a:t>
            </a:r>
          </a:p>
          <a:p>
            <a:pPr>
              <a:spcBef>
                <a:spcPts val="600"/>
              </a:spcBef>
              <a:spcAft>
                <a:spcPts val="600"/>
              </a:spcAft>
            </a:pPr>
            <a:r>
              <a:rPr lang="en-US" sz="2400" b="1" dirty="0">
                <a:latin typeface="Times New Roman" panose="02020603050405020304" pitchFamily="18" charset="0"/>
                <a:cs typeface="Times New Roman" panose="02020603050405020304" pitchFamily="18" charset="0"/>
              </a:rPr>
              <a:t>NumPy:</a:t>
            </a:r>
            <a:r>
              <a:rPr lang="en-US" sz="2400" dirty="0">
                <a:latin typeface="Times New Roman" panose="02020603050405020304" pitchFamily="18" charset="0"/>
                <a:cs typeface="Times New Roman" panose="02020603050405020304" pitchFamily="18" charset="0"/>
              </a:rPr>
              <a:t> Supports fast numerical computations and advanced mathematical operations.</a:t>
            </a:r>
          </a:p>
          <a:p>
            <a:pPr>
              <a:spcBef>
                <a:spcPts val="600"/>
              </a:spcBef>
              <a:spcAft>
                <a:spcPts val="600"/>
              </a:spcAft>
            </a:pPr>
            <a:r>
              <a:rPr lang="en-US" sz="2400" b="1" dirty="0">
                <a:latin typeface="Times New Roman" panose="02020603050405020304" pitchFamily="18" charset="0"/>
                <a:cs typeface="Times New Roman" panose="02020603050405020304" pitchFamily="18" charset="0"/>
              </a:rPr>
              <a:t>Matplotlib &amp; Seaborn:</a:t>
            </a:r>
            <a:r>
              <a:rPr lang="en-US" sz="2400" dirty="0">
                <a:latin typeface="Times New Roman" panose="02020603050405020304" pitchFamily="18" charset="0"/>
                <a:cs typeface="Times New Roman" panose="02020603050405020304" pitchFamily="18" charset="0"/>
              </a:rPr>
              <a:t> Enable clear and customizable data visualizations.</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These libraries allow analysts to handle large datasets, perform complex calculations, and generate meaningful insights. Python empowers organizations to make </a:t>
            </a:r>
            <a:r>
              <a:rPr lang="en-US" sz="2400" b="1" dirty="0">
                <a:latin typeface="Times New Roman" panose="02020603050405020304" pitchFamily="18" charset="0"/>
                <a:cs typeface="Times New Roman" panose="02020603050405020304" pitchFamily="18" charset="0"/>
              </a:rPr>
              <a:t>data-driven decisions</a:t>
            </a:r>
            <a:r>
              <a:rPr lang="en-US" sz="2400" dirty="0">
                <a:latin typeface="Times New Roman" panose="02020603050405020304" pitchFamily="18" charset="0"/>
                <a:cs typeface="Times New Roman" panose="02020603050405020304" pitchFamily="18" charset="0"/>
              </a:rPr>
              <a:t> by simplifying the process of analyzing and visualizing data, ultimately supporting smarter business strategies.</a:t>
            </a:r>
          </a:p>
        </p:txBody>
      </p:sp>
    </p:spTree>
    <p:extLst>
      <p:ext uri="{BB962C8B-B14F-4D97-AF65-F5344CB8AC3E}">
        <p14:creationId xmlns:p14="http://schemas.microsoft.com/office/powerpoint/2010/main" val="186876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D2251051-AAC9-365F-D986-759B003D6AF3}"/>
              </a:ext>
            </a:extLst>
          </p:cNvPr>
          <p:cNvSpPr txBox="1">
            <a:spLocks/>
          </p:cNvSpPr>
          <p:nvPr/>
        </p:nvSpPr>
        <p:spPr>
          <a:xfrm>
            <a:off x="774290" y="744304"/>
            <a:ext cx="10643419" cy="10176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sz="2000" b="1" dirty="0">
                <a:latin typeface="Times New Roman" panose="02020603050405020304" pitchFamily="18" charset="0"/>
                <a:cs typeface="Times New Roman" panose="02020603050405020304" pitchFamily="18" charset="0"/>
              </a:rPr>
              <a:t>Problem1 – Total Sales by Payment Method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Calculate the total sales for each payment method and display the results.</a:t>
            </a:r>
          </a:p>
        </p:txBody>
      </p:sp>
      <p:sp>
        <p:nvSpPr>
          <p:cNvPr id="3" name="Subtitle 2">
            <a:extLst>
              <a:ext uri="{FF2B5EF4-FFF2-40B4-BE49-F238E27FC236}">
                <a16:creationId xmlns:a16="http://schemas.microsoft.com/office/drawing/2014/main" id="{F6D34F47-8EEE-18AE-CC42-8FAB0412E693}"/>
              </a:ext>
            </a:extLst>
          </p:cNvPr>
          <p:cNvSpPr txBox="1">
            <a:spLocks/>
          </p:cNvSpPr>
          <p:nvPr/>
        </p:nvSpPr>
        <p:spPr>
          <a:xfrm>
            <a:off x="774288" y="2085424"/>
            <a:ext cx="10643419" cy="10176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sz="2000" b="1" dirty="0">
                <a:latin typeface="Times New Roman" panose="02020603050405020304" pitchFamily="18" charset="0"/>
                <a:cs typeface="Times New Roman" panose="02020603050405020304" pitchFamily="18" charset="0"/>
              </a:rPr>
              <a:t>Problem 1 – Top 5 Categories by Total Sales</a:t>
            </a:r>
          </a:p>
          <a:p>
            <a:pPr marL="0" indent="0" algn="ctr">
              <a:lnSpc>
                <a:spcPct val="150000"/>
              </a:lnSpc>
              <a:buNone/>
            </a:pPr>
            <a:r>
              <a:rPr lang="en-US" sz="2000" dirty="0">
                <a:latin typeface="Times New Roman" panose="02020603050405020304" pitchFamily="18" charset="0"/>
                <a:cs typeface="Times New Roman" panose="02020603050405020304" pitchFamily="18" charset="0"/>
              </a:rPr>
              <a:t>List the top 5 product categories with the highest total sales.</a:t>
            </a:r>
          </a:p>
        </p:txBody>
      </p:sp>
      <p:sp>
        <p:nvSpPr>
          <p:cNvPr id="4" name="Subtitle 2">
            <a:extLst>
              <a:ext uri="{FF2B5EF4-FFF2-40B4-BE49-F238E27FC236}">
                <a16:creationId xmlns:a16="http://schemas.microsoft.com/office/drawing/2014/main" id="{0B0EA090-208E-4FB8-18A9-16BC0D2D64D3}"/>
              </a:ext>
            </a:extLst>
          </p:cNvPr>
          <p:cNvSpPr txBox="1">
            <a:spLocks/>
          </p:cNvSpPr>
          <p:nvPr/>
        </p:nvSpPr>
        <p:spPr>
          <a:xfrm>
            <a:off x="774288" y="3519212"/>
            <a:ext cx="10643419" cy="10176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sz="2000" b="1" dirty="0">
                <a:latin typeface="Times New Roman" panose="02020603050405020304" pitchFamily="18" charset="0"/>
                <a:cs typeface="Times New Roman" panose="02020603050405020304" pitchFamily="18" charset="0"/>
              </a:rPr>
              <a:t>Problem 2 – Top 5 Customers by Total Sales</a:t>
            </a:r>
          </a:p>
          <a:p>
            <a:pPr marL="0" indent="0" algn="ctr">
              <a:lnSpc>
                <a:spcPct val="150000"/>
              </a:lnSpc>
              <a:buNone/>
            </a:pPr>
            <a:r>
              <a:rPr lang="en-US" sz="2000" dirty="0">
                <a:latin typeface="Times New Roman" panose="02020603050405020304" pitchFamily="18" charset="0"/>
                <a:cs typeface="Times New Roman" panose="02020603050405020304" pitchFamily="18" charset="0"/>
              </a:rPr>
              <a:t>List the top 5 customers who have generated the highest total sales.</a:t>
            </a:r>
          </a:p>
        </p:txBody>
      </p:sp>
      <p:sp>
        <p:nvSpPr>
          <p:cNvPr id="5" name="Subtitle 2">
            <a:extLst>
              <a:ext uri="{FF2B5EF4-FFF2-40B4-BE49-F238E27FC236}">
                <a16:creationId xmlns:a16="http://schemas.microsoft.com/office/drawing/2014/main" id="{831DD808-8D48-ED98-A942-A4ECB4CB7AA1}"/>
              </a:ext>
            </a:extLst>
          </p:cNvPr>
          <p:cNvSpPr txBox="1">
            <a:spLocks/>
          </p:cNvSpPr>
          <p:nvPr/>
        </p:nvSpPr>
        <p:spPr>
          <a:xfrm>
            <a:off x="774288" y="5013960"/>
            <a:ext cx="10643419" cy="1017637"/>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sz="2000" b="1" dirty="0">
                <a:latin typeface="Times New Roman" panose="02020603050405020304" pitchFamily="18" charset="0"/>
                <a:cs typeface="Times New Roman" panose="02020603050405020304" pitchFamily="18" charset="0"/>
              </a:rPr>
              <a:t>Problem 3 – Top 5 Customer Locations by Total Sales</a:t>
            </a:r>
          </a:p>
          <a:p>
            <a:pPr marL="0" indent="0" algn="ctr">
              <a:lnSpc>
                <a:spcPct val="150000"/>
              </a:lnSpc>
              <a:buNone/>
            </a:pPr>
            <a:r>
              <a:rPr lang="en-US" sz="2000" dirty="0">
                <a:latin typeface="Times New Roman" panose="02020603050405020304" pitchFamily="18" charset="0"/>
                <a:cs typeface="Times New Roman" panose="02020603050405020304" pitchFamily="18" charset="0"/>
              </a:rPr>
              <a:t>List the top 5 customer locations with the highest total sales.</a:t>
            </a:r>
          </a:p>
        </p:txBody>
      </p:sp>
    </p:spTree>
    <p:extLst>
      <p:ext uri="{BB962C8B-B14F-4D97-AF65-F5344CB8AC3E}">
        <p14:creationId xmlns:p14="http://schemas.microsoft.com/office/powerpoint/2010/main" val="926411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FCF2FC-417E-3647-92C3-561260495B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1742" y="138922"/>
            <a:ext cx="5073473" cy="2641591"/>
          </a:xfrm>
          <a:prstGeom prst="rect">
            <a:avLst/>
          </a:prstGeom>
        </p:spPr>
      </p:pic>
      <p:pic>
        <p:nvPicPr>
          <p:cNvPr id="5" name="Picture 4">
            <a:extLst>
              <a:ext uri="{FF2B5EF4-FFF2-40B4-BE49-F238E27FC236}">
                <a16:creationId xmlns:a16="http://schemas.microsoft.com/office/drawing/2014/main" id="{B5EFD25F-5B9B-4DB9-ACA6-1C2625EBF0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3682"/>
            <a:ext cx="6644640" cy="2660154"/>
          </a:xfrm>
          <a:prstGeom prst="rect">
            <a:avLst/>
          </a:prstGeom>
        </p:spPr>
      </p:pic>
      <p:pic>
        <p:nvPicPr>
          <p:cNvPr id="9" name="Picture 8">
            <a:extLst>
              <a:ext uri="{FF2B5EF4-FFF2-40B4-BE49-F238E27FC236}">
                <a16:creationId xmlns:a16="http://schemas.microsoft.com/office/drawing/2014/main" id="{0FF80D8D-EDDB-F15E-A586-0E6306D573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065" y="4074164"/>
            <a:ext cx="5726335" cy="2431554"/>
          </a:xfrm>
          <a:prstGeom prst="rect">
            <a:avLst/>
          </a:prstGeom>
        </p:spPr>
      </p:pic>
      <p:pic>
        <p:nvPicPr>
          <p:cNvPr id="11" name="Picture 10">
            <a:extLst>
              <a:ext uri="{FF2B5EF4-FFF2-40B4-BE49-F238E27FC236}">
                <a16:creationId xmlns:a16="http://schemas.microsoft.com/office/drawing/2014/main" id="{B98C8984-70AA-066B-C041-3813682107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81766" y="4077487"/>
            <a:ext cx="6210234" cy="2428231"/>
          </a:xfrm>
          <a:prstGeom prst="rect">
            <a:avLst/>
          </a:prstGeom>
        </p:spPr>
      </p:pic>
    </p:spTree>
    <p:extLst>
      <p:ext uri="{BB962C8B-B14F-4D97-AF65-F5344CB8AC3E}">
        <p14:creationId xmlns:p14="http://schemas.microsoft.com/office/powerpoint/2010/main" val="3070118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alphaModFix amt="30000"/>
          </a:blip>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9BCA73-ABD4-4DC4-3871-53ECE3F39F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6206" y="108365"/>
            <a:ext cx="4801019" cy="2310370"/>
          </a:xfrm>
          <a:prstGeom prst="rect">
            <a:avLst/>
          </a:prstGeom>
        </p:spPr>
      </p:pic>
      <p:pic>
        <p:nvPicPr>
          <p:cNvPr id="5" name="Picture 4">
            <a:extLst>
              <a:ext uri="{FF2B5EF4-FFF2-40B4-BE49-F238E27FC236}">
                <a16:creationId xmlns:a16="http://schemas.microsoft.com/office/drawing/2014/main" id="{48D5F17B-55E3-1D2C-3810-21CE4689BB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440" y="108365"/>
            <a:ext cx="6777086" cy="2310370"/>
          </a:xfrm>
          <a:prstGeom prst="rect">
            <a:avLst/>
          </a:prstGeom>
        </p:spPr>
      </p:pic>
      <p:pic>
        <p:nvPicPr>
          <p:cNvPr id="7" name="Picture 6">
            <a:extLst>
              <a:ext uri="{FF2B5EF4-FFF2-40B4-BE49-F238E27FC236}">
                <a16:creationId xmlns:a16="http://schemas.microsoft.com/office/drawing/2014/main" id="{A121BCA4-B6CB-B819-19AF-29066E3447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6206" y="3671240"/>
            <a:ext cx="5007630" cy="2139623"/>
          </a:xfrm>
          <a:prstGeom prst="rect">
            <a:avLst/>
          </a:prstGeom>
        </p:spPr>
      </p:pic>
      <p:pic>
        <p:nvPicPr>
          <p:cNvPr id="9" name="Picture 8">
            <a:extLst>
              <a:ext uri="{FF2B5EF4-FFF2-40B4-BE49-F238E27FC236}">
                <a16:creationId xmlns:a16="http://schemas.microsoft.com/office/drawing/2014/main" id="{58354072-40B6-945E-8F99-D6C3F39D7F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440" y="3671240"/>
            <a:ext cx="6835282" cy="2139623"/>
          </a:xfrm>
          <a:prstGeom prst="rect">
            <a:avLst/>
          </a:prstGeom>
        </p:spPr>
      </p:pic>
    </p:spTree>
    <p:extLst>
      <p:ext uri="{BB962C8B-B14F-4D97-AF65-F5344CB8AC3E}">
        <p14:creationId xmlns:p14="http://schemas.microsoft.com/office/powerpoint/2010/main" val="376520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1000"/>
            <a:lum/>
          </a:blip>
          <a:srcRect/>
          <a:tile tx="0" ty="0" sx="100000" sy="100000" flip="none" algn="tl"/>
        </a:blip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B8A4F999-DC01-C706-AF4C-AAC5B9FBBC5C}"/>
              </a:ext>
            </a:extLst>
          </p:cNvPr>
          <p:cNvSpPr txBox="1">
            <a:spLocks/>
          </p:cNvSpPr>
          <p:nvPr/>
        </p:nvSpPr>
        <p:spPr>
          <a:xfrm>
            <a:off x="626807" y="950782"/>
            <a:ext cx="10643419" cy="10176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 Problem1 : Top Performing Students</a:t>
            </a:r>
          </a:p>
          <a:p>
            <a:pPr marL="0" indent="0" algn="ctr">
              <a:buNone/>
            </a:pPr>
            <a:r>
              <a:rPr lang="en-US" sz="2000" dirty="0">
                <a:latin typeface="Times New Roman" panose="02020603050405020304" pitchFamily="18" charset="0"/>
                <a:cs typeface="Times New Roman" panose="02020603050405020304" pitchFamily="18" charset="0"/>
              </a:rPr>
              <a:t> Identify the top 10 students based on their overall average score</a:t>
            </a:r>
          </a:p>
        </p:txBody>
      </p:sp>
      <p:sp>
        <p:nvSpPr>
          <p:cNvPr id="3" name="Subtitle 2">
            <a:extLst>
              <a:ext uri="{FF2B5EF4-FFF2-40B4-BE49-F238E27FC236}">
                <a16:creationId xmlns:a16="http://schemas.microsoft.com/office/drawing/2014/main" id="{508E3BD6-8D8E-D4BF-A2EA-D8428579C3DD}"/>
              </a:ext>
            </a:extLst>
          </p:cNvPr>
          <p:cNvSpPr txBox="1">
            <a:spLocks/>
          </p:cNvSpPr>
          <p:nvPr/>
        </p:nvSpPr>
        <p:spPr>
          <a:xfrm>
            <a:off x="626807" y="2278136"/>
            <a:ext cx="10643419" cy="10176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Problem 2: Gender Performance Comparison</a:t>
            </a:r>
          </a:p>
          <a:p>
            <a:pPr marL="0" indent="0" algn="ctr">
              <a:buNone/>
            </a:pPr>
            <a:r>
              <a:rPr lang="en-US" sz="2000" dirty="0">
                <a:latin typeface="Times New Roman" panose="02020603050405020304" pitchFamily="18" charset="0"/>
                <a:cs typeface="Times New Roman" panose="02020603050405020304" pitchFamily="18" charset="0"/>
              </a:rPr>
              <a:t>Compare subject performance between male and female students.</a:t>
            </a:r>
          </a:p>
        </p:txBody>
      </p:sp>
      <p:sp>
        <p:nvSpPr>
          <p:cNvPr id="4" name="Subtitle 2">
            <a:extLst>
              <a:ext uri="{FF2B5EF4-FFF2-40B4-BE49-F238E27FC236}">
                <a16:creationId xmlns:a16="http://schemas.microsoft.com/office/drawing/2014/main" id="{A7E0D486-3FDF-8D32-C8EF-BDAA780504A8}"/>
              </a:ext>
            </a:extLst>
          </p:cNvPr>
          <p:cNvSpPr txBox="1">
            <a:spLocks/>
          </p:cNvSpPr>
          <p:nvPr/>
        </p:nvSpPr>
        <p:spPr>
          <a:xfrm>
            <a:off x="626807" y="3605490"/>
            <a:ext cx="10643419" cy="10176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Problem 3: Impact of Weekly Study Hours on Scores</a:t>
            </a:r>
          </a:p>
          <a:p>
            <a:pPr marL="0" indent="0" algn="ctr">
              <a:buNone/>
            </a:pPr>
            <a:r>
              <a:rPr lang="en-US" sz="2000" dirty="0">
                <a:latin typeface="Times New Roman" panose="02020603050405020304" pitchFamily="18" charset="0"/>
                <a:cs typeface="Times New Roman" panose="02020603050405020304" pitchFamily="18" charset="0"/>
              </a:rPr>
              <a:t> Analyze how study time affects performance.</a:t>
            </a:r>
          </a:p>
          <a:p>
            <a:pPr marL="0" indent="0" algn="ctr">
              <a:lnSpc>
                <a:spcPct val="150000"/>
              </a:lnSpc>
              <a:buNone/>
            </a:pPr>
            <a:r>
              <a:rPr lang="en-US" sz="2000" dirty="0">
                <a:latin typeface="Times New Roman" panose="02020603050405020304" pitchFamily="18" charset="0"/>
                <a:cs typeface="Times New Roman" panose="02020603050405020304" pitchFamily="18" charset="0"/>
              </a:rPr>
              <a:t>.</a:t>
            </a:r>
          </a:p>
        </p:txBody>
      </p:sp>
      <p:sp>
        <p:nvSpPr>
          <p:cNvPr id="5" name="Subtitle 2">
            <a:extLst>
              <a:ext uri="{FF2B5EF4-FFF2-40B4-BE49-F238E27FC236}">
                <a16:creationId xmlns:a16="http://schemas.microsoft.com/office/drawing/2014/main" id="{1DA14367-12A3-C640-A1CD-2BE55BAA9661}"/>
              </a:ext>
            </a:extLst>
          </p:cNvPr>
          <p:cNvSpPr txBox="1">
            <a:spLocks/>
          </p:cNvSpPr>
          <p:nvPr/>
        </p:nvSpPr>
        <p:spPr>
          <a:xfrm>
            <a:off x="626807" y="4932844"/>
            <a:ext cx="10643419" cy="10176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Problem 6: Subject-wise Highest Score</a:t>
            </a:r>
          </a:p>
          <a:p>
            <a:pPr marL="0" indent="0" algn="ctr">
              <a:buNone/>
            </a:pPr>
            <a:r>
              <a:rPr lang="en-US" sz="2000" dirty="0">
                <a:latin typeface="Times New Roman" panose="02020603050405020304" pitchFamily="18" charset="0"/>
                <a:cs typeface="Times New Roman" panose="02020603050405020304" pitchFamily="18" charset="0"/>
              </a:rPr>
              <a:t> Find the student who scored the highest in each subject</a:t>
            </a:r>
          </a:p>
        </p:txBody>
      </p:sp>
    </p:spTree>
    <p:extLst>
      <p:ext uri="{BB962C8B-B14F-4D97-AF65-F5344CB8AC3E}">
        <p14:creationId xmlns:p14="http://schemas.microsoft.com/office/powerpoint/2010/main" val="2447194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510318-032C-EE95-474C-BADFC20AE3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1961" y="165632"/>
            <a:ext cx="4572000" cy="2609580"/>
          </a:xfrm>
          <a:prstGeom prst="rect">
            <a:avLst/>
          </a:prstGeom>
        </p:spPr>
      </p:pic>
      <p:pic>
        <p:nvPicPr>
          <p:cNvPr id="5" name="Picture 4">
            <a:extLst>
              <a:ext uri="{FF2B5EF4-FFF2-40B4-BE49-F238E27FC236}">
                <a16:creationId xmlns:a16="http://schemas.microsoft.com/office/drawing/2014/main" id="{91458703-C4EF-F23E-F907-1496E6369E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607" y="165632"/>
            <a:ext cx="6268236" cy="2609580"/>
          </a:xfrm>
          <a:prstGeom prst="rect">
            <a:avLst/>
          </a:prstGeom>
        </p:spPr>
      </p:pic>
      <p:pic>
        <p:nvPicPr>
          <p:cNvPr id="7" name="Picture 6">
            <a:extLst>
              <a:ext uri="{FF2B5EF4-FFF2-40B4-BE49-F238E27FC236}">
                <a16:creationId xmlns:a16="http://schemas.microsoft.com/office/drawing/2014/main" id="{902E9177-872B-1D1F-93EA-8ACA404E5F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1606" y="3928023"/>
            <a:ext cx="6331862" cy="2030325"/>
          </a:xfrm>
          <a:prstGeom prst="rect">
            <a:avLst/>
          </a:prstGeom>
        </p:spPr>
      </p:pic>
      <p:pic>
        <p:nvPicPr>
          <p:cNvPr id="9" name="Picture 8">
            <a:extLst>
              <a:ext uri="{FF2B5EF4-FFF2-40B4-BE49-F238E27FC236}">
                <a16:creationId xmlns:a16="http://schemas.microsoft.com/office/drawing/2014/main" id="{246BC550-8314-CD26-678B-91F10F5FA9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11194" y="3928022"/>
            <a:ext cx="5480806" cy="2030325"/>
          </a:xfrm>
          <a:prstGeom prst="rect">
            <a:avLst/>
          </a:prstGeom>
        </p:spPr>
      </p:pic>
    </p:spTree>
    <p:extLst>
      <p:ext uri="{BB962C8B-B14F-4D97-AF65-F5344CB8AC3E}">
        <p14:creationId xmlns:p14="http://schemas.microsoft.com/office/powerpoint/2010/main" val="1246368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3000"/>
            <a:lum/>
          </a:blip>
          <a:srcRect/>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9A5756-9F3F-1414-D81A-97BBF31E1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71" y="213265"/>
            <a:ext cx="6784975" cy="2500438"/>
          </a:xfrm>
          <a:prstGeom prst="rect">
            <a:avLst/>
          </a:prstGeom>
        </p:spPr>
      </p:pic>
      <p:pic>
        <p:nvPicPr>
          <p:cNvPr id="5" name="Picture 4">
            <a:extLst>
              <a:ext uri="{FF2B5EF4-FFF2-40B4-BE49-F238E27FC236}">
                <a16:creationId xmlns:a16="http://schemas.microsoft.com/office/drawing/2014/main" id="{DAD016EA-BFA0-6227-B89C-FCDC8A279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6984" y="213265"/>
            <a:ext cx="4779644" cy="2500438"/>
          </a:xfrm>
          <a:prstGeom prst="rect">
            <a:avLst/>
          </a:prstGeom>
        </p:spPr>
      </p:pic>
      <p:pic>
        <p:nvPicPr>
          <p:cNvPr id="7" name="Picture 6">
            <a:extLst>
              <a:ext uri="{FF2B5EF4-FFF2-40B4-BE49-F238E27FC236}">
                <a16:creationId xmlns:a16="http://schemas.microsoft.com/office/drawing/2014/main" id="{D9A367AA-49EB-5E6C-EC93-55A2616639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370" y="3626566"/>
            <a:ext cx="6576673" cy="2700491"/>
          </a:xfrm>
          <a:prstGeom prst="rect">
            <a:avLst/>
          </a:prstGeom>
        </p:spPr>
      </p:pic>
      <p:pic>
        <p:nvPicPr>
          <p:cNvPr id="9" name="Picture 8">
            <a:extLst>
              <a:ext uri="{FF2B5EF4-FFF2-40B4-BE49-F238E27FC236}">
                <a16:creationId xmlns:a16="http://schemas.microsoft.com/office/drawing/2014/main" id="{D708C7C1-90D6-8F8B-24A7-6481BB9064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2169" y="3626566"/>
            <a:ext cx="4247044" cy="2700491"/>
          </a:xfrm>
          <a:prstGeom prst="rect">
            <a:avLst/>
          </a:prstGeom>
        </p:spPr>
      </p:pic>
    </p:spTree>
    <p:extLst>
      <p:ext uri="{BB962C8B-B14F-4D97-AF65-F5344CB8AC3E}">
        <p14:creationId xmlns:p14="http://schemas.microsoft.com/office/powerpoint/2010/main" val="3349944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6000" b="-6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33B62D-49FA-5833-3465-95113151C4DC}"/>
              </a:ext>
            </a:extLst>
          </p:cNvPr>
          <p:cNvSpPr txBox="1"/>
          <p:nvPr/>
        </p:nvSpPr>
        <p:spPr>
          <a:xfrm>
            <a:off x="454741" y="0"/>
            <a:ext cx="11282517" cy="6330003"/>
          </a:xfrm>
          <a:prstGeom prst="rect">
            <a:avLst/>
          </a:prstGeom>
          <a:noFill/>
        </p:spPr>
        <p:txBody>
          <a:bodyPr wrap="square">
            <a:spAutoFit/>
          </a:bodyPr>
          <a:lstStyle/>
          <a:p>
            <a:pPr>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PK"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buNone/>
            </a:pPr>
            <a:r>
              <a:rPr lang="en-PK" sz="2500" b="1" kern="100" dirty="0">
                <a:effectLst/>
                <a:latin typeface="Times New Roman" panose="02020603050405020304" pitchFamily="18" charset="0"/>
                <a:ea typeface="Calibri" panose="020F0502020204030204" pitchFamily="34" charset="0"/>
                <a:cs typeface="Times New Roman" panose="02020603050405020304" pitchFamily="18" charset="0"/>
              </a:rPr>
              <a:t>Power BI Introduction</a:t>
            </a:r>
          </a:p>
          <a:p>
            <a:pPr>
              <a:lnSpc>
                <a:spcPct val="115000"/>
              </a:lnSpc>
              <a:spcAft>
                <a:spcPts val="800"/>
              </a:spcAft>
              <a:buNone/>
            </a:pPr>
            <a:r>
              <a:rPr lang="en-PK" sz="2400" kern="100" dirty="0">
                <a:effectLst/>
                <a:latin typeface="Times New Roman" panose="02020603050405020304" pitchFamily="18" charset="0"/>
                <a:ea typeface="Calibri" panose="020F0502020204030204" pitchFamily="34" charset="0"/>
                <a:cs typeface="Times New Roman" panose="02020603050405020304" pitchFamily="18" charset="0"/>
              </a:rPr>
              <a:t>Power BI is a business intelligence and data visualization tool developed by Microsoft that helps organizations analyse data and share insights through interactive reports and dashboards. It connects to multiple data sources such as Excel, databases, cloud services, and online platforms, allowing users to collect, transform, and model data in one place. Power BI uses features like Power Query for data cleaning and DAX (Data Analysis Expressions) for calculations and data modelling.</a:t>
            </a:r>
          </a:p>
          <a:p>
            <a:pPr>
              <a:lnSpc>
                <a:spcPct val="115000"/>
              </a:lnSpc>
              <a:spcAft>
                <a:spcPts val="800"/>
              </a:spcAft>
              <a:buNone/>
            </a:pPr>
            <a:r>
              <a:rPr lang="en-PK" sz="2400" kern="100" dirty="0">
                <a:effectLst/>
                <a:latin typeface="Times New Roman" panose="02020603050405020304" pitchFamily="18" charset="0"/>
                <a:ea typeface="Calibri" panose="020F0502020204030204" pitchFamily="34" charset="0"/>
                <a:cs typeface="Times New Roman" panose="02020603050405020304" pitchFamily="18" charset="0"/>
              </a:rPr>
              <a:t>In the field of data analysis, Power BI is used to convert raw data into meaningful visual insights through charts, graphs, maps, and K</a:t>
            </a:r>
            <a:r>
              <a:rPr lang="en-US" sz="2400" kern="100">
                <a:latin typeface="Times New Roman" panose="02020603050405020304" pitchFamily="18" charset="0"/>
                <a:ea typeface="Calibri" panose="020F0502020204030204" pitchFamily="34" charset="0"/>
                <a:cs typeface="Times New Roman" panose="02020603050405020304" pitchFamily="18" charset="0"/>
              </a:rPr>
              <a:t>PI’s</a:t>
            </a:r>
            <a:r>
              <a:rPr lang="en-PK" sz="2400" kern="100" dirty="0">
                <a:effectLst/>
                <a:latin typeface="Times New Roman" panose="02020603050405020304" pitchFamily="18" charset="0"/>
                <a:ea typeface="Calibri" panose="020F0502020204030204" pitchFamily="34" charset="0"/>
                <a:cs typeface="Times New Roman" panose="02020603050405020304" pitchFamily="18" charset="0"/>
              </a:rPr>
              <a:t>. Analysts use it to track performance, identify trends, and support decision-making processes. Its real-time data updates and user-friendly interface make it suitable for both technical and non-technical users. By using Power BI, organizations can make faster, smarter, and data-driven business decisions.</a:t>
            </a:r>
          </a:p>
        </p:txBody>
      </p:sp>
    </p:spTree>
    <p:extLst>
      <p:ext uri="{BB962C8B-B14F-4D97-AF65-F5344CB8AC3E}">
        <p14:creationId xmlns:p14="http://schemas.microsoft.com/office/powerpoint/2010/main" val="1717997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alphaModFix amt="37000"/>
          </a:blip>
          <a:tile tx="0" ty="0" sx="100000" sy="100000" flip="none" algn="tl"/>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7785EC-DDD7-2ACF-413C-581B3AA42DBD}"/>
              </a:ext>
            </a:extLst>
          </p:cNvPr>
          <p:cNvSpPr txBox="1"/>
          <p:nvPr/>
        </p:nvSpPr>
        <p:spPr>
          <a:xfrm>
            <a:off x="228600" y="289679"/>
            <a:ext cx="11734800" cy="6278642"/>
          </a:xfrm>
          <a:prstGeom prst="rect">
            <a:avLst/>
          </a:prstGeom>
          <a:noFill/>
        </p:spPr>
        <p:txBody>
          <a:bodyPr wrap="square">
            <a:spAutoFit/>
          </a:bodyPr>
          <a:lstStyle/>
          <a:p>
            <a:pPr algn="ctr">
              <a:buNone/>
            </a:pPr>
            <a:r>
              <a:rPr lang="en-US" sz="2800" b="1" dirty="0">
                <a:latin typeface="Times New Roman" panose="02020603050405020304" pitchFamily="18" charset="0"/>
                <a:cs typeface="Times New Roman" panose="02020603050405020304" pitchFamily="18" charset="0"/>
              </a:rPr>
              <a:t>Workforce Analytics &amp; Performance Overview</a:t>
            </a:r>
          </a:p>
          <a:p>
            <a:pPr algn="ctr">
              <a:buNone/>
            </a:pPr>
            <a:endParaRPr lang="en-US" sz="2400" b="1" dirty="0">
              <a:latin typeface="Times New Roman" panose="02020603050405020304" pitchFamily="18" charset="0"/>
              <a:cs typeface="Times New Roman" panose="02020603050405020304" pitchFamily="18" charset="0"/>
            </a:endParaRPr>
          </a:p>
          <a:p>
            <a:pPr>
              <a:buNone/>
            </a:pPr>
            <a:r>
              <a:rPr lang="en-US" sz="2500" dirty="0">
                <a:latin typeface="Times New Roman" panose="02020603050405020304" pitchFamily="18" charset="0"/>
                <a:cs typeface="Times New Roman" panose="02020603050405020304" pitchFamily="18" charset="0"/>
              </a:rPr>
              <a:t>Overall, the dashboard analysis highlights that the organization’s workforce and compensation structure are heavily concentrated in </a:t>
            </a:r>
            <a:r>
              <a:rPr lang="en-US" sz="2500" b="1" dirty="0">
                <a:latin typeface="Times New Roman" panose="02020603050405020304" pitchFamily="18" charset="0"/>
                <a:cs typeface="Times New Roman" panose="02020603050405020304" pitchFamily="18" charset="0"/>
              </a:rPr>
              <a:t>Customer Support </a:t>
            </a:r>
            <a:r>
              <a:rPr lang="en-US" sz="2500" dirty="0">
                <a:latin typeface="Times New Roman" panose="02020603050405020304" pitchFamily="18" charset="0"/>
                <a:cs typeface="Times New Roman" panose="02020603050405020304" pitchFamily="18" charset="0"/>
              </a:rPr>
              <a:t>and the Karachi region, reflecting a service-oriented and centralized operational model. While the Accounting department demonstrates the </a:t>
            </a:r>
            <a:r>
              <a:rPr lang="en-US" sz="2500" b="1" dirty="0">
                <a:latin typeface="Times New Roman" panose="02020603050405020304" pitchFamily="18" charset="0"/>
                <a:cs typeface="Times New Roman" panose="02020603050405020304" pitchFamily="18" charset="0"/>
              </a:rPr>
              <a:t>highest performance levels</a:t>
            </a:r>
            <a:r>
              <a:rPr lang="en-US" sz="2500" dirty="0">
                <a:latin typeface="Times New Roman" panose="02020603050405020304" pitchFamily="18" charset="0"/>
                <a:cs typeface="Times New Roman" panose="02020603050405020304" pitchFamily="18" charset="0"/>
              </a:rPr>
              <a:t>, variations in performance scores and leave patterns across departments indicate opportunities for targeted training, workload optimization, and improved performance management frameworks. The compensation structure is largely fixed-salary driven, suggesting financial stability for employees; however, the relatively lower proportion of performance-based incentives such as bonuses and overtime may limit motivation and productivity gains. Furthermore, the concentration of </a:t>
            </a:r>
            <a:r>
              <a:rPr lang="en-US" sz="2500" b="1" dirty="0">
                <a:latin typeface="Times New Roman" panose="02020603050405020304" pitchFamily="18" charset="0"/>
                <a:cs typeface="Times New Roman" panose="02020603050405020304" pitchFamily="18" charset="0"/>
              </a:rPr>
              <a:t>HR</a:t>
            </a:r>
            <a:r>
              <a:rPr lang="en-US" sz="2500" dirty="0">
                <a:latin typeface="Times New Roman" panose="02020603050405020304" pitchFamily="18" charset="0"/>
                <a:cs typeface="Times New Roman" panose="02020603050405020304" pitchFamily="18" charset="0"/>
              </a:rPr>
              <a:t> expenditure in a single city points to potential benefits of regional expansion and more balanced resource allocation. Overall, these </a:t>
            </a:r>
            <a:r>
              <a:rPr lang="en-US" sz="2500" b="1" dirty="0">
                <a:latin typeface="Times New Roman" panose="02020603050405020304" pitchFamily="18" charset="0"/>
                <a:cs typeface="Times New Roman" panose="02020603050405020304" pitchFamily="18" charset="0"/>
              </a:rPr>
              <a:t>insights provide </a:t>
            </a:r>
            <a:r>
              <a:rPr lang="en-US" sz="2500" dirty="0">
                <a:latin typeface="Times New Roman" panose="02020603050405020304" pitchFamily="18" charset="0"/>
                <a:cs typeface="Times New Roman" panose="02020603050405020304" pitchFamily="18" charset="0"/>
              </a:rPr>
              <a:t>a strong foundation for strategic decision-making aimed at enhancing operational efficiency, </a:t>
            </a:r>
            <a:r>
              <a:rPr lang="en-US" sz="2500" b="1" dirty="0">
                <a:latin typeface="Times New Roman" panose="02020603050405020304" pitchFamily="18" charset="0"/>
                <a:cs typeface="Times New Roman" panose="02020603050405020304" pitchFamily="18" charset="0"/>
              </a:rPr>
              <a:t>employee engagement</a:t>
            </a:r>
            <a:r>
              <a:rPr lang="en-US" sz="2500" dirty="0">
                <a:latin typeface="Times New Roman" panose="02020603050405020304" pitchFamily="18" charset="0"/>
                <a:cs typeface="Times New Roman" panose="02020603050405020304" pitchFamily="18" charset="0"/>
              </a:rPr>
              <a:t>, and sustainable organizational growth.</a:t>
            </a:r>
          </a:p>
        </p:txBody>
      </p:sp>
    </p:spTree>
    <p:extLst>
      <p:ext uri="{BB962C8B-B14F-4D97-AF65-F5344CB8AC3E}">
        <p14:creationId xmlns:p14="http://schemas.microsoft.com/office/powerpoint/2010/main" val="4262010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4AA65-6A4D-A0E8-D5F9-98F7ED6A5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47432" cy="6858000"/>
          </a:xfrm>
          <a:prstGeom prst="rect">
            <a:avLst/>
          </a:prstGeom>
        </p:spPr>
      </p:pic>
    </p:spTree>
    <p:extLst>
      <p:ext uri="{BB962C8B-B14F-4D97-AF65-F5344CB8AC3E}">
        <p14:creationId xmlns:p14="http://schemas.microsoft.com/office/powerpoint/2010/main" val="3440371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tile tx="0" ty="0" sx="100000" sy="100000" flip="none" algn="tl"/>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3A039F-4212-B308-3C55-50D0888C52D2}"/>
              </a:ext>
            </a:extLst>
          </p:cNvPr>
          <p:cNvSpPr txBox="1"/>
          <p:nvPr/>
        </p:nvSpPr>
        <p:spPr>
          <a:xfrm>
            <a:off x="142875" y="914400"/>
            <a:ext cx="11906250" cy="4739759"/>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Coffee Sales Performance Dashboard</a:t>
            </a:r>
          </a:p>
          <a:p>
            <a:pPr algn="ctr"/>
            <a:endParaRPr lang="en-US" sz="26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Overall, the Coffee Sales dashboard provides a comprehensive view of </a:t>
            </a:r>
            <a:r>
              <a:rPr lang="en-US" sz="2500" b="1" dirty="0">
                <a:latin typeface="Times New Roman" panose="02020603050405020304" pitchFamily="18" charset="0"/>
                <a:cs typeface="Times New Roman" panose="02020603050405020304" pitchFamily="18" charset="0"/>
              </a:rPr>
              <a:t>business performance</a:t>
            </a:r>
            <a:r>
              <a:rPr lang="en-US" sz="2500" dirty="0">
                <a:latin typeface="Times New Roman" panose="02020603050405020304" pitchFamily="18" charset="0"/>
                <a:cs typeface="Times New Roman" panose="02020603050405020304" pitchFamily="18" charset="0"/>
              </a:rPr>
              <a:t> across revenue, product mix, store contribution, and </a:t>
            </a:r>
            <a:r>
              <a:rPr lang="en-US" sz="2500" b="1" dirty="0">
                <a:latin typeface="Times New Roman" panose="02020603050405020304" pitchFamily="18" charset="0"/>
                <a:cs typeface="Times New Roman" panose="02020603050405020304" pitchFamily="18" charset="0"/>
              </a:rPr>
              <a:t>sales volume</a:t>
            </a:r>
            <a:r>
              <a:rPr lang="en-US" sz="2500" dirty="0">
                <a:latin typeface="Times New Roman" panose="02020603050405020304" pitchFamily="18" charset="0"/>
                <a:cs typeface="Times New Roman" panose="02020603050405020304" pitchFamily="18" charset="0"/>
              </a:rPr>
              <a:t>. The analysis clearly indicates that Coffee remains the primary revenue and volume driver, with Tea and Bakery serving as key supporting categories. </a:t>
            </a:r>
            <a:r>
              <a:rPr lang="en-US" sz="2500" b="1" dirty="0">
                <a:latin typeface="Times New Roman" panose="02020603050405020304" pitchFamily="18" charset="0"/>
                <a:cs typeface="Times New Roman" panose="02020603050405020304" pitchFamily="18" charset="0"/>
              </a:rPr>
              <a:t>Store-level performance </a:t>
            </a:r>
            <a:r>
              <a:rPr lang="en-US" sz="2500" dirty="0">
                <a:latin typeface="Times New Roman" panose="02020603050405020304" pitchFamily="18" charset="0"/>
                <a:cs typeface="Times New Roman" panose="02020603050405020304" pitchFamily="18" charset="0"/>
              </a:rPr>
              <a:t>differences highlight the impact of location and customer footfall on sales outcomes, suggesting the need for targeted, store-specific strategies to uplift underperforming outlets. The consistency in </a:t>
            </a:r>
            <a:r>
              <a:rPr lang="en-US" sz="2500" b="1" dirty="0">
                <a:latin typeface="Times New Roman" panose="02020603050405020304" pitchFamily="18" charset="0"/>
                <a:cs typeface="Times New Roman" panose="02020603050405020304" pitchFamily="18" charset="0"/>
              </a:rPr>
              <a:t>average pricing</a:t>
            </a:r>
            <a:r>
              <a:rPr lang="en-US" sz="2500" dirty="0">
                <a:latin typeface="Times New Roman" panose="02020603050405020304" pitchFamily="18" charset="0"/>
                <a:cs typeface="Times New Roman" panose="02020603050405020304" pitchFamily="18" charset="0"/>
              </a:rPr>
              <a:t>, combined with </a:t>
            </a:r>
            <a:r>
              <a:rPr lang="en-US" sz="2500" b="1" dirty="0">
                <a:latin typeface="Times New Roman" panose="02020603050405020304" pitchFamily="18" charset="0"/>
                <a:cs typeface="Times New Roman" panose="02020603050405020304" pitchFamily="18" charset="0"/>
              </a:rPr>
              <a:t>strong transaction volumes</a:t>
            </a:r>
            <a:r>
              <a:rPr lang="en-US" sz="2500" dirty="0">
                <a:latin typeface="Times New Roman" panose="02020603050405020304" pitchFamily="18" charset="0"/>
                <a:cs typeface="Times New Roman" panose="02020603050405020304" pitchFamily="18" charset="0"/>
              </a:rPr>
              <a:t>, reflects stable demand and effective pricing policies. These insights support data-driven decision-making in areas such as product portfolio optimization, </a:t>
            </a:r>
            <a:r>
              <a:rPr lang="en-US" sz="2500" b="1" dirty="0">
                <a:latin typeface="Times New Roman" panose="02020603050405020304" pitchFamily="18" charset="0"/>
                <a:cs typeface="Times New Roman" panose="02020603050405020304" pitchFamily="18" charset="0"/>
              </a:rPr>
              <a:t>inventory management</a:t>
            </a:r>
            <a:r>
              <a:rPr lang="en-US" sz="2500" dirty="0">
                <a:latin typeface="Times New Roman" panose="02020603050405020304" pitchFamily="18" charset="0"/>
                <a:cs typeface="Times New Roman" panose="02020603050405020304" pitchFamily="18" charset="0"/>
              </a:rPr>
              <a:t>, store performance improvement, and strategic </a:t>
            </a:r>
            <a:r>
              <a:rPr lang="en-US" sz="2500" b="1" dirty="0">
                <a:latin typeface="Times New Roman" panose="02020603050405020304" pitchFamily="18" charset="0"/>
                <a:cs typeface="Times New Roman" panose="02020603050405020304" pitchFamily="18" charset="0"/>
              </a:rPr>
              <a:t>sales growth planning</a:t>
            </a:r>
            <a:r>
              <a:rPr lang="en-US" sz="2500" dirty="0">
                <a:latin typeface="Times New Roman" panose="02020603050405020304" pitchFamily="18" charset="0"/>
                <a:cs typeface="Times New Roman" panose="02020603050405020304" pitchFamily="18" charset="0"/>
              </a:rPr>
              <a:t>.</a:t>
            </a:r>
            <a:endParaRPr lang="en-PK"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278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86E3D2-C0B5-464F-44F0-5080B53057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06008363"/>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384</TotalTime>
  <Words>1084</Words>
  <Application>Microsoft Office PowerPoint</Application>
  <PresentationFormat>Widescreen</PresentationFormat>
  <Paragraphs>50</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Summait</dc:creator>
  <cp:lastModifiedBy>Muhammad Summait</cp:lastModifiedBy>
  <cp:revision>10</cp:revision>
  <dcterms:created xsi:type="dcterms:W3CDTF">2026-02-02T09:44:12Z</dcterms:created>
  <dcterms:modified xsi:type="dcterms:W3CDTF">2026-02-22T06:34:18Z</dcterms:modified>
</cp:coreProperties>
</file>